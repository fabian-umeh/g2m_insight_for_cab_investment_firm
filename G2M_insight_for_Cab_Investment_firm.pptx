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7" r:id="rId3"/>
    <p:sldId id="269" r:id="rId4"/>
    <p:sldId id="271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2" r:id="rId13"/>
    <p:sldId id="281" r:id="rId14"/>
    <p:sldId id="284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3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6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3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73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8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2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7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1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4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0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1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CC22B5-8500-2C45-91DE-A596A6DF1C3B}"/>
              </a:ext>
            </a:extLst>
          </p:cNvPr>
          <p:cNvSpPr txBox="1"/>
          <p:nvPr/>
        </p:nvSpPr>
        <p:spPr>
          <a:xfrm>
            <a:off x="870857" y="2380343"/>
            <a:ext cx="10248900" cy="2708434"/>
          </a:xfrm>
          <a:prstGeom prst="rect">
            <a:avLst/>
          </a:prstGeom>
          <a:solidFill>
            <a:srgbClr val="3B3B3B"/>
          </a:solidFill>
        </p:spPr>
        <p:txBody>
          <a:bodyPr wrap="square" rtlCol="0">
            <a:spAutoFit/>
          </a:bodyPr>
          <a:lstStyle/>
          <a:p>
            <a:r>
              <a:rPr lang="en-US" sz="7000" dirty="0">
                <a:solidFill>
                  <a:srgbClr val="FF6600"/>
                </a:solidFill>
              </a:rPr>
              <a:t>Exploratory Data Analysis</a:t>
            </a:r>
          </a:p>
          <a:p>
            <a:r>
              <a:rPr lang="en-US" sz="4000" dirty="0">
                <a:solidFill>
                  <a:srgbClr val="FF6600"/>
                </a:solidFill>
              </a:rPr>
              <a:t>G2M Insight for Cab Investment</a:t>
            </a:r>
          </a:p>
          <a:p>
            <a:endParaRPr lang="en-US" sz="4000" dirty="0">
              <a:solidFill>
                <a:srgbClr val="FF6600"/>
              </a:solidFill>
            </a:endParaRPr>
          </a:p>
          <a:p>
            <a:r>
              <a:rPr lang="en-US" sz="2000" dirty="0">
                <a:solidFill>
                  <a:srgbClr val="FF6600"/>
                </a:solidFill>
              </a:rPr>
              <a:t>20/07/2022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567843"/>
            <a:ext cx="3712224" cy="3714496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l"/>
            <a:b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3846A5-A498-4C9E-B4DC-13532657D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5506" y="643467"/>
            <a:ext cx="1128382" cy="847206"/>
            <a:chOff x="8183879" y="1000124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8A845FC1-FE68-40DE-B785-AA0F3DBD6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26048ED-7A92-4694-A168-2C6C5C0D6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62A3FAA-D056-4098-8115-EA61EAF0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7645" y="839534"/>
            <a:ext cx="6781601" cy="5652388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3D5A6-E766-7C41-BD00-B22DA472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9382" y="2096162"/>
            <a:ext cx="3894161" cy="26578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algn="l"/>
            <a:r>
              <a:rPr lang="en-US" sz="1400" dirty="0">
                <a:solidFill>
                  <a:schemeClr val="bg1"/>
                </a:solidFill>
              </a:rPr>
              <a:t>       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        Executive Summary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        Problem Statement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        Approach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        EDA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        EDA Summary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         Recommendations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5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290" y="1289146"/>
            <a:ext cx="4153626" cy="4279709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r"/>
            <a:b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5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Executive Summary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2BF2FB-8A96-4B53-86A0-04755C545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3027" y="681628"/>
            <a:ext cx="1562267" cy="1172973"/>
            <a:chOff x="7493121" y="1000124"/>
            <a:chExt cx="1562267" cy="1172973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893D4739-55F8-4E73-8F98-AF42D54BD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A1AA190F-FB42-4BED-8AA1-A5A01B43C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60B3D5A6-E766-7C41-BD00-B22DA472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4140" y="1854600"/>
            <a:ext cx="5105205" cy="38349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algn="l"/>
            <a:r>
              <a:rPr lang="en-US" sz="1400" b="1" i="0" dirty="0">
                <a:effectLst/>
              </a:rPr>
              <a:t>Problem statement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</a:rPr>
              <a:t>US company XYZ, Due to recent growth, and the existence of prominent companies, </a:t>
            </a:r>
            <a:r>
              <a:rPr lang="en-US" sz="1400" dirty="0"/>
              <a:t>thinks</a:t>
            </a:r>
            <a:r>
              <a:rPr lang="en-US" sz="1400" b="0" i="0" dirty="0">
                <a:effectLst/>
              </a:rPr>
              <a:t> of investing in the taxi industry.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l"/>
            <a:r>
              <a:rPr lang="en-US" sz="1400" b="1" dirty="0"/>
              <a:t>Objectives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The analysis aims to provide company XYZ useful information so they can choose the best firm to invest in.</a:t>
            </a:r>
          </a:p>
          <a:p>
            <a:pPr algn="l"/>
            <a:r>
              <a:rPr lang="en-US" sz="1400" b="1" dirty="0"/>
              <a:t>Approach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Understanding data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Identifying the most lucrative cab firm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Making investment recommendations.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6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0657FE5D-93F1-97F1-3AE5-2CDD1F769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4834822"/>
            <a:ext cx="4023360" cy="1208141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According to the graph, the pink company has the most customers in Los Angeles, CA, and the yellow company has the most customers in New York.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When comparing the two companies' geographical areas in general, the yellow company has a much larger customer base.</a:t>
            </a:r>
            <a:endParaRPr lang="en-US" sz="2000" b="1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53677A-5963-4A69-6A30-1CE60F07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828777"/>
            <a:ext cx="6846363" cy="50491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625CF6-55E8-1395-409A-C5D0BE1F0773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Geographical Analysis</a:t>
            </a:r>
          </a:p>
        </p:txBody>
      </p:sp>
    </p:spTree>
    <p:extLst>
      <p:ext uri="{BB962C8B-B14F-4D97-AF65-F5344CB8AC3E}">
        <p14:creationId xmlns:p14="http://schemas.microsoft.com/office/powerpoint/2010/main" val="124932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39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Freeform: Shape 41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9505" cy="6857542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6B5F537-3960-4E10-AE03-D496B4CD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0080" y="640080"/>
            <a:ext cx="1128382" cy="847206"/>
            <a:chOff x="5307830" y="325570"/>
            <a:chExt cx="1128382" cy="847206"/>
          </a:xfrm>
        </p:grpSpPr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4F9A94D1-9FCD-4778-A663-68663B4D3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BB080F40-90BD-4CAA-9447-8DC3FCD0F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0FCAA7A-9098-9916-268D-5A4381D3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094" y="640080"/>
            <a:ext cx="4483033" cy="26786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294331-04E2-8446-9DF8-4CEEC6B47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806" y="3497524"/>
            <a:ext cx="2445896" cy="30103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36" name="Subtitle 2">
            <a:extLst>
              <a:ext uri="{FF2B5EF4-FFF2-40B4-BE49-F238E27FC236}">
                <a16:creationId xmlns:a16="http://schemas.microsoft.com/office/drawing/2014/main" id="{8CBCD957-DEBF-97CA-229C-5513E322F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320" y="4465367"/>
            <a:ext cx="4023360" cy="1500727"/>
          </a:xfr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3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Profit per kilometre covered reveals a huge disparity between the two companies, with the yellow company earning far more than the pink company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3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profit percentage chart demonstrates that the Yellow Cab Company earns more profit than the Pink Company.</a:t>
            </a:r>
            <a:endParaRPr lang="en-US" sz="13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696976-7D53-3670-1EC7-C52D7F2312DA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Profit Analysis</a:t>
            </a:r>
          </a:p>
        </p:txBody>
      </p:sp>
    </p:spTree>
    <p:extLst>
      <p:ext uri="{BB962C8B-B14F-4D97-AF65-F5344CB8AC3E}">
        <p14:creationId xmlns:p14="http://schemas.microsoft.com/office/powerpoint/2010/main" val="89049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77">
            <a:extLst>
              <a:ext uri="{FF2B5EF4-FFF2-40B4-BE49-F238E27FC236}">
                <a16:creationId xmlns:a16="http://schemas.microsoft.com/office/drawing/2014/main" id="{E30408B7-02B2-4EC4-8EE8-B53E74642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79">
            <a:extLst>
              <a:ext uri="{FF2B5EF4-FFF2-40B4-BE49-F238E27FC236}">
                <a16:creationId xmlns:a16="http://schemas.microsoft.com/office/drawing/2014/main" id="{FC117A00-E1E3-4C50-9444-14FB2BC77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233674"/>
            <a:ext cx="12192000" cy="26243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14996E-B8AF-0C75-7E87-ABD0C447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1" y="680198"/>
            <a:ext cx="10261600" cy="3206749"/>
          </a:xfrm>
          <a:prstGeom prst="rect">
            <a:avLst/>
          </a:prstGeom>
        </p:spPr>
      </p:pic>
      <p:grpSp>
        <p:nvGrpSpPr>
          <p:cNvPr id="87" name="Group 81">
            <a:extLst>
              <a:ext uri="{FF2B5EF4-FFF2-40B4-BE49-F238E27FC236}">
                <a16:creationId xmlns:a16="http://schemas.microsoft.com/office/drawing/2014/main" id="{3CA30F3A-949D-4014-A5BD-809F81E84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08171" y="4641753"/>
            <a:ext cx="1128382" cy="847206"/>
            <a:chOff x="8183879" y="1000124"/>
            <a:chExt cx="1562267" cy="1172973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A486C148-F247-4847-8096-6992A8A97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5">
              <a:extLst>
                <a:ext uri="{FF2B5EF4-FFF2-40B4-BE49-F238E27FC236}">
                  <a16:creationId xmlns:a16="http://schemas.microsoft.com/office/drawing/2014/main" id="{F05C5920-B89E-417C-9583-B3DC913AD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75" name="Subtitle 2">
            <a:extLst>
              <a:ext uri="{FF2B5EF4-FFF2-40B4-BE49-F238E27FC236}">
                <a16:creationId xmlns:a16="http://schemas.microsoft.com/office/drawing/2014/main" id="{35F0A5AC-06CE-9A5F-48DB-C76B4CAD7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319" y="4465368"/>
            <a:ext cx="7536135" cy="428212"/>
          </a:xfr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1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The pie chart clearly shows that the yellow company has a larger percentage of total rides, percentage of total profit, and profit per ride..</a:t>
            </a:r>
            <a:endParaRPr lang="en-US" sz="13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5D59DC-3675-A9DD-718A-BAC133B881A2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Profit Analysis</a:t>
            </a:r>
          </a:p>
        </p:txBody>
      </p:sp>
    </p:spTree>
    <p:extLst>
      <p:ext uri="{BB962C8B-B14F-4D97-AF65-F5344CB8AC3E}">
        <p14:creationId xmlns:p14="http://schemas.microsoft.com/office/powerpoint/2010/main" val="3402357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5" name="Freeform: Shape 5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7" name="Freeform: Shape 5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E5710-EDDF-2E44-6A74-02FAF0DB1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270502"/>
            <a:ext cx="6408836" cy="41657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F9785ECA-EE80-372E-0630-D28B93B0C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4832174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chart shows a significant difference in the averaged daily earnings earned by the two companies, with Yellow company coming out on top.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67886F-08A6-D61E-EB5F-236AE71F8A78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Daily Profit Analysis</a:t>
            </a:r>
          </a:p>
        </p:txBody>
      </p:sp>
    </p:spTree>
    <p:extLst>
      <p:ext uri="{BB962C8B-B14F-4D97-AF65-F5344CB8AC3E}">
        <p14:creationId xmlns:p14="http://schemas.microsoft.com/office/powerpoint/2010/main" val="1532193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2" name="Freeform: Shape 9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4" name="Freeform: Shape 9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29B225-D1CE-7116-A803-A61C464C0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807242"/>
            <a:ext cx="6408836" cy="3092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29" name="Subtitle 2">
            <a:extLst>
              <a:ext uri="{FF2B5EF4-FFF2-40B4-BE49-F238E27FC236}">
                <a16:creationId xmlns:a16="http://schemas.microsoft.com/office/drawing/2014/main" id="{1B6C3148-E197-F245-B815-8A5565BADA19}"/>
              </a:ext>
            </a:extLst>
          </p:cNvPr>
          <p:cNvSpPr txBox="1">
            <a:spLocks/>
          </p:cNvSpPr>
          <p:nvPr/>
        </p:nvSpPr>
        <p:spPr>
          <a:xfrm>
            <a:off x="481029" y="4782867"/>
            <a:ext cx="4023360" cy="1350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GB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igher profit is earned in the fourth quarter of the year, except in the year 2018 for yellow Company.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b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There is a significant disparity in the profits earned by the two companies, with Yellow faring better.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1B51BF-16B9-3C74-4162-B98C59BA4567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Quarterly Profit Analysis</a:t>
            </a:r>
          </a:p>
        </p:txBody>
      </p:sp>
    </p:spTree>
    <p:extLst>
      <p:ext uri="{BB962C8B-B14F-4D97-AF65-F5344CB8AC3E}">
        <p14:creationId xmlns:p14="http://schemas.microsoft.com/office/powerpoint/2010/main" val="4243337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1" name="Freeform: Shape 8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3" name="Freeform: Shape 8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8ADF2-8E17-C72F-3547-CEE7D4F28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150336"/>
            <a:ext cx="6408836" cy="4406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AA237757-1FED-29B6-DB17-9F4D614724B8}"/>
              </a:ext>
            </a:extLst>
          </p:cNvPr>
          <p:cNvSpPr txBox="1">
            <a:spLocks/>
          </p:cNvSpPr>
          <p:nvPr/>
        </p:nvSpPr>
        <p:spPr>
          <a:xfrm>
            <a:off x="481029" y="4782867"/>
            <a:ext cx="4023360" cy="1350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21212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GB" sz="14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 graphic depicts the supremacy of the Yellow company in terms of profitability.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EB099-4DE9-89F5-5E57-BF1954910CD8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Yearly Profit Analysis</a:t>
            </a:r>
          </a:p>
        </p:txBody>
      </p:sp>
    </p:spTree>
    <p:extLst>
      <p:ext uri="{BB962C8B-B14F-4D97-AF65-F5344CB8AC3E}">
        <p14:creationId xmlns:p14="http://schemas.microsoft.com/office/powerpoint/2010/main" val="3389340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4" name="Freeform: Shape 9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6" name="Freeform: Shape 9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1C8D49-4A50-40F8-AB32-BE6466D93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703099"/>
            <a:ext cx="6408836" cy="3300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27C0B52A-36CE-DF67-AFA0-331D9151CFD2}"/>
              </a:ext>
            </a:extLst>
          </p:cNvPr>
          <p:cNvSpPr txBox="1">
            <a:spLocks/>
          </p:cNvSpPr>
          <p:nvPr/>
        </p:nvSpPr>
        <p:spPr>
          <a:xfrm>
            <a:off x="481029" y="4782867"/>
            <a:ext cx="4023360" cy="1350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Majority of the customers of the two companies fall between the age range of 26 - 40. However, there is no obvious difference between the two aside profit.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932EC7-A458-F549-CDEC-1F5A9096EE04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Age segmentation Analysis</a:t>
            </a:r>
          </a:p>
        </p:txBody>
      </p:sp>
    </p:spTree>
    <p:extLst>
      <p:ext uri="{BB962C8B-B14F-4D97-AF65-F5344CB8AC3E}">
        <p14:creationId xmlns:p14="http://schemas.microsoft.com/office/powerpoint/2010/main" val="288911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7" name="Freeform: Shape 10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9" name="Freeform: Shape 108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A171D-2768-5CC0-D85B-92363A8F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703099"/>
            <a:ext cx="6408836" cy="3300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36B96D6D-98FB-087F-B3BB-7E7583C2E1CB}"/>
              </a:ext>
            </a:extLst>
          </p:cNvPr>
          <p:cNvSpPr txBox="1">
            <a:spLocks/>
          </p:cNvSpPr>
          <p:nvPr/>
        </p:nvSpPr>
        <p:spPr>
          <a:xfrm>
            <a:off x="481029" y="4782867"/>
            <a:ext cx="4023360" cy="1350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chart depicts the yellow company's ability to accommodate consumers from all income classes, though lower percentages for lower income classes.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9FFCF1-4C74-00B7-9F9C-CCBCB4CF9EDE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Income class segmentation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40454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0" name="Freeform: Shape 119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2" name="Freeform: Shape 121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889925E8-2E35-030B-9E64-F9AC97328C34}"/>
              </a:ext>
            </a:extLst>
          </p:cNvPr>
          <p:cNvSpPr txBox="1">
            <a:spLocks/>
          </p:cNvSpPr>
          <p:nvPr/>
        </p:nvSpPr>
        <p:spPr>
          <a:xfrm>
            <a:off x="481029" y="4782867"/>
            <a:ext cx="4023360" cy="1350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b="0" i="0" dirty="0">
                <a:solidFill>
                  <a:srgbClr val="212121"/>
                </a:solidFill>
                <a:effectLst/>
                <a:latin typeface="+mj-lt"/>
              </a:rPr>
              <a:t>The plot shows a significant disparity in the two cab firms' client retention capacities, with Yellow having a greater customer retention rate.</a:t>
            </a:r>
            <a:endParaRPr lang="en-US" sz="14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2ED1C9-3063-FD14-6B7A-D1CFDBF04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236" y="1089891"/>
            <a:ext cx="6915610" cy="418048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C444FE4-65F8-E75B-3660-6620AE481CFD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Customer Retention Analysis</a:t>
            </a:r>
          </a:p>
        </p:txBody>
      </p:sp>
    </p:spTree>
    <p:extLst>
      <p:ext uri="{BB962C8B-B14F-4D97-AF65-F5344CB8AC3E}">
        <p14:creationId xmlns:p14="http://schemas.microsoft.com/office/powerpoint/2010/main" val="3934586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43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6" name="Freeform: Shape 145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8" name="Freeform: Shape 147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10BE38-4F00-0AF3-0A73-F398C48A3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204" y="625683"/>
            <a:ext cx="3450565" cy="2743200"/>
          </a:xfrm>
          <a:prstGeom prst="rect">
            <a:avLst/>
          </a:prstGeom>
        </p:spPr>
      </p:pic>
      <p:sp>
        <p:nvSpPr>
          <p:cNvPr id="152" name="Rectangle 15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4CC09-D8DB-A12D-B044-09AD11A82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958" y="3550309"/>
            <a:ext cx="4303059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EE20B4AA-F381-E167-5C7F-C3BFED043AA4}"/>
              </a:ext>
            </a:extLst>
          </p:cNvPr>
          <p:cNvSpPr txBox="1">
            <a:spLocks/>
          </p:cNvSpPr>
          <p:nvPr/>
        </p:nvSpPr>
        <p:spPr>
          <a:xfrm>
            <a:off x="481029" y="4782867"/>
            <a:ext cx="4023360" cy="1350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b="0" i="0" dirty="0">
                <a:solidFill>
                  <a:srgbClr val="21212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is clear from the chart that customers are more likely to opt for Yellow company during holiday periods.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E6D23B-24C3-EF22-7854-F06C20AFD234}"/>
              </a:ext>
            </a:extLst>
          </p:cNvPr>
          <p:cNvSpPr txBox="1"/>
          <p:nvPr/>
        </p:nvSpPr>
        <p:spPr>
          <a:xfrm>
            <a:off x="1422400" y="101600"/>
            <a:ext cx="969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Holiday Analysis</a:t>
            </a:r>
          </a:p>
        </p:txBody>
      </p:sp>
    </p:spTree>
    <p:extLst>
      <p:ext uri="{BB962C8B-B14F-4D97-AF65-F5344CB8AC3E}">
        <p14:creationId xmlns:p14="http://schemas.microsoft.com/office/powerpoint/2010/main" val="159529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17" y="1166934"/>
            <a:ext cx="4558913" cy="4279709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b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4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Summary and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3D5A6-E766-7C41-BD00-B22DA472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0618" y="147782"/>
            <a:ext cx="7065818" cy="609599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400" b="1" dirty="0"/>
              <a:t>EDA SUMMARY</a:t>
            </a:r>
          </a:p>
          <a:p>
            <a:pPr algn="l"/>
            <a:r>
              <a:rPr lang="en-US" sz="1400" dirty="0"/>
              <a:t>• </a:t>
            </a:r>
            <a:r>
              <a:rPr lang="en-US" sz="1400" b="1" dirty="0"/>
              <a:t>Customer Base : </a:t>
            </a:r>
            <a:r>
              <a:rPr lang="en-US" sz="1400" dirty="0"/>
              <a:t>Yellow cab has higher customer base in general across the US cities when compared to pink cab.</a:t>
            </a:r>
          </a:p>
          <a:p>
            <a:pPr algn="l"/>
            <a:r>
              <a:rPr lang="en-US" sz="1400" dirty="0"/>
              <a:t>• </a:t>
            </a:r>
            <a:r>
              <a:rPr lang="en-US" sz="1400" b="1" dirty="0"/>
              <a:t>Customer Retention Percentage: </a:t>
            </a:r>
            <a:r>
              <a:rPr lang="en-US" sz="1400" dirty="0"/>
              <a:t>there are increasing trend in the percentage  of customers retainability of the two companies. However, yellow company had a higher percentage (almost two times that of pink cab company).</a:t>
            </a:r>
          </a:p>
          <a:p>
            <a:pPr algn="l"/>
            <a:r>
              <a:rPr lang="en-US" sz="1400" dirty="0"/>
              <a:t>• </a:t>
            </a:r>
            <a:r>
              <a:rPr lang="en-US" sz="1400" b="1" dirty="0"/>
              <a:t>Age segment analysis: </a:t>
            </a:r>
            <a:r>
              <a:rPr lang="en-US" sz="1400" dirty="0"/>
              <a:t>Both yellow and pink cab company showed similar trend in the age segments, with most of their customers falling between the ages of 26 and 40.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b="1" dirty="0"/>
              <a:t>Profit analysis: </a:t>
            </a:r>
            <a:r>
              <a:rPr lang="en-GB" sz="1400" dirty="0"/>
              <a:t>Yellow cab company compared to pink has a larger percentage of total rides, percentage of total profit, and profit per ride.</a:t>
            </a:r>
            <a:endParaRPr lang="en-US" sz="1400" dirty="0"/>
          </a:p>
          <a:p>
            <a:pPr algn="l"/>
            <a:r>
              <a:rPr lang="en-US" sz="1400" dirty="0"/>
              <a:t>• </a:t>
            </a:r>
            <a:r>
              <a:rPr lang="en-US" sz="1400" b="1" dirty="0"/>
              <a:t>Average Profit per KM: </a:t>
            </a:r>
            <a:r>
              <a:rPr lang="en-US" sz="1400" dirty="0"/>
              <a:t>Yellow cab’s average profit per KM is almost 3x times the average profit per KM of the Pink cab.</a:t>
            </a:r>
          </a:p>
          <a:p>
            <a:pPr algn="l"/>
            <a:r>
              <a:rPr lang="en-GB" sz="1400" b="1" dirty="0"/>
              <a:t>• Income-based Reach: </a:t>
            </a:r>
            <a:r>
              <a:rPr lang="en-GB" sz="1400" dirty="0"/>
              <a:t>Yellow Cab Company generally reaches consumers from all income brackets, albeit at a lower rate than Pink Cab Company, which isn't the most popular option for lower income class.</a:t>
            </a:r>
          </a:p>
          <a:p>
            <a:pPr algn="l"/>
            <a:r>
              <a:rPr lang="en-GB" sz="1400" dirty="0"/>
              <a:t>• </a:t>
            </a:r>
            <a:r>
              <a:rPr lang="en-GB" sz="1400" b="1" dirty="0"/>
              <a:t>Holiday analysis</a:t>
            </a:r>
            <a:r>
              <a:rPr lang="en-GB" sz="1400" dirty="0"/>
              <a:t>: Records show that Yellow Cab Company is more popular with customers than Pink Cab Company during holiday times.</a:t>
            </a:r>
            <a:endParaRPr lang="en-US" sz="1400" dirty="0"/>
          </a:p>
          <a:p>
            <a:pPr algn="l"/>
            <a:r>
              <a:rPr lang="en-US" sz="1400" b="1" dirty="0"/>
              <a:t>Based of the derived insights above, Yellow cab will be a good choice for investment.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40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-562431" y="562430"/>
            <a:ext cx="6858002" cy="5733142"/>
          </a:xfrm>
          <a:solidFill>
            <a:srgbClr val="3B3B3B"/>
          </a:solidFill>
        </p:spPr>
        <p:txBody>
          <a:bodyPr vert="vert270" anchor="t" anchorCtr="0"/>
          <a:lstStyle/>
          <a:p>
            <a:r>
              <a:rPr lang="en-US" b="1">
                <a:solidFill>
                  <a:srgbClr val="FF6600"/>
                </a:solidFill>
              </a:rPr>
              <a:t>Analysis</a:t>
            </a:r>
            <a:br>
              <a:rPr lang="en-US" b="1">
                <a:solidFill>
                  <a:srgbClr val="FF6600"/>
                </a:solidFill>
              </a:rPr>
            </a:br>
            <a:r>
              <a:rPr lang="en-US" b="1">
                <a:solidFill>
                  <a:srgbClr val="FF6600"/>
                </a:solidFill>
              </a:rPr>
              <a:t>By</a:t>
            </a:r>
            <a:br>
              <a:rPr lang="en-US" b="1">
                <a:solidFill>
                  <a:srgbClr val="FF6600"/>
                </a:solidFill>
              </a:rPr>
            </a:br>
            <a:r>
              <a:rPr lang="en-US" b="1">
                <a:solidFill>
                  <a:srgbClr val="FF6600"/>
                </a:solidFill>
              </a:rPr>
              <a:t>Fabian Umeh</a:t>
            </a:r>
            <a:endParaRPr lang="en-US" b="1" dirty="0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2D4BA697-580E-5544-8F2F-194AD99B8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2570" y="2481943"/>
            <a:ext cx="5558973" cy="1655762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6600"/>
                </a:solidFill>
              </a:rPr>
              <a:t>Thank You</a:t>
            </a:r>
          </a:p>
          <a:p>
            <a:endParaRPr lang="en-US" sz="66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21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 Glacier Internship" id="{2B17C0A9-4F1A-394C-9305-82F12CA26E4F}" vid="{F9955FDF-826E-7C4D-B52C-017E9540C8B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Glacier Internship</Template>
  <TotalTime>297</TotalTime>
  <Words>657</Words>
  <Application>Microsoft Office PowerPoint</Application>
  <PresentationFormat>Widescreen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Roboto</vt:lpstr>
      <vt:lpstr>Office Theme</vt:lpstr>
      <vt:lpstr>PowerPoint Presentation</vt:lpstr>
      <vt:lpstr>   Agenda</vt:lpstr>
      <vt:lpstr>   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Summary and Recommendation</vt:lpstr>
      <vt:lpstr>Analysis By Fabian Umeh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fabian umeh</dc:creator>
  <cp:lastModifiedBy>UMEH, FABIAN (Student)</cp:lastModifiedBy>
  <cp:revision>2</cp:revision>
  <dcterms:created xsi:type="dcterms:W3CDTF">2022-07-20T14:01:54Z</dcterms:created>
  <dcterms:modified xsi:type="dcterms:W3CDTF">2022-07-20T19:00:29Z</dcterms:modified>
</cp:coreProperties>
</file>